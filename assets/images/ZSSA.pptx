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7" r:id="rId2"/>
    <p:sldId id="256" r:id="rId3"/>
  </p:sldIdLst>
  <p:sldSz cx="6858000" cy="9144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10"/>
    <p:restoredTop sz="94690"/>
  </p:normalViewPr>
  <p:slideViewPr>
    <p:cSldViewPr snapToGrid="0">
      <p:cViewPr varScale="1">
        <p:scale>
          <a:sx n="113" d="100"/>
          <a:sy n="113" d="100"/>
        </p:scale>
        <p:origin x="34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496484"/>
            <a:ext cx="5829300" cy="31834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4802717"/>
            <a:ext cx="5143500" cy="2207683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19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58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279653"/>
            <a:ext cx="5915025" cy="3803649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119286"/>
            <a:ext cx="5915025" cy="200024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0222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434167"/>
            <a:ext cx="2914650" cy="5801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024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486835"/>
            <a:ext cx="5915025" cy="17674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241551"/>
            <a:ext cx="2901255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340100"/>
            <a:ext cx="2901255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241551"/>
            <a:ext cx="2915543" cy="1098549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340100"/>
            <a:ext cx="2915543" cy="4912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76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61134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3708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316568"/>
            <a:ext cx="3471863" cy="6498167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619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09600"/>
            <a:ext cx="2211884" cy="21336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316568"/>
            <a:ext cx="3471863" cy="6498167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743200"/>
            <a:ext cx="2211884" cy="508211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862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784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486833"/>
            <a:ext cx="1478756" cy="77491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486833"/>
            <a:ext cx="4350544" cy="77491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981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486835"/>
            <a:ext cx="5915025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434167"/>
            <a:ext cx="5915025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65CD4-C512-154B-BD07-4AC2775C4058}" type="datetimeFigureOut">
              <a:rPr lang="en-US" smtClean="0"/>
              <a:t>8/12/23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8475136"/>
            <a:ext cx="2314575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8475136"/>
            <a:ext cx="154305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8260C-AE8C-D44F-A4CD-6793F43A62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44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3475F4C-4C6A-73B3-2571-B441B017B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-1" y="0"/>
            <a:ext cx="6858001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656765-D29E-3462-9CED-15F96468AA6A}"/>
              </a:ext>
            </a:extLst>
          </p:cNvPr>
          <p:cNvSpPr txBox="1"/>
          <p:nvPr/>
        </p:nvSpPr>
        <p:spPr>
          <a:xfrm>
            <a:off x="101600" y="135467"/>
            <a:ext cx="6756400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State Secrets Act</a:t>
            </a:r>
            <a:endParaRPr lang="en-US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400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*Preamble*: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In the spirit of upholding the security, integrity, and prosperity of 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, and recognizing the necessity of safeguarding its arcane, political, and strategic interests, the 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State Secrets Act (ZSSA) is hereby decreed. 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400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*Article I: Definition of State Secrets*</a:t>
            </a: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1. **State Secrets** refer to all information, whether arcane, political, or strategic, whose unauthorized disclosure could harm the interests of 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.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2. Such secrets include, but are not limited to, arcane research, gnomish engineering blueprints, political communications, intelligence reports, and Trust operations.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400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*Article 2: Responsibilities of The Trust*</a:t>
            </a: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1. The Trust, being 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Zilargo's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premier intelligence and security agency, shall be the chief custodian of all State Secrets.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2. The Trust is entrusted with the classification, protection, and declassification of State Secrets.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3. The Trust shall coordinate with relevant ministries, agencies, and houses to assess and designate information as State Secrets.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400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*Article 3: Unauthorized Disclosure*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1. Any unauthorized disclosure, transmission, or theft of State Secrets, whether intentional or due to negligence, shall be deemed a violation of this act.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2. Persons found guilty of unauthorized disclosure shall be subject to penalties as determined by 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Zilargo's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High Judiciary, which may include imprisonment, fines, or both.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3. The Trust reserves the right to take immediate measures to prevent unauthorized disclosures, which may include detainment and interrogation.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400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*Article 4: Whistleblower Protection*</a:t>
            </a: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1. Individuals who, in good faith, reveal abuses of power, corruption, or other unlawful activities, which do not compromise State Secrets, are protected against retaliation.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2. The Trust, in collaboration with the High Judiciary, shall ensure that whistleblowers are given a fair and confidential hearing.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**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State Secrets Act (ZSSA) of 998 YK – v4.6**</a:t>
            </a:r>
          </a:p>
        </p:txBody>
      </p:sp>
      <p:pic>
        <p:nvPicPr>
          <p:cNvPr id="5" name="Picture 4" descr="A gold and blue circular object with a bird in the middle&#10;&#10;Description automatically generated">
            <a:extLst>
              <a:ext uri="{FF2B5EF4-FFF2-40B4-BE49-F238E27FC236}">
                <a16:creationId xmlns:a16="http://schemas.microsoft.com/office/drawing/2014/main" id="{7F83E9E6-E181-3360-91C1-152670737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067" y="7950200"/>
            <a:ext cx="1058333" cy="1058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26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C3475F4C-4C6A-73B3-2571-B441B017B4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6858001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E656765-D29E-3462-9CED-15F96468AA6A}"/>
              </a:ext>
            </a:extLst>
          </p:cNvPr>
          <p:cNvSpPr txBox="1"/>
          <p:nvPr/>
        </p:nvSpPr>
        <p:spPr>
          <a:xfrm>
            <a:off x="101600" y="146756"/>
            <a:ext cx="6756400" cy="89716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State Secrets Act</a:t>
            </a:r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400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*Article 5: Access to State Secrets*</a:t>
            </a: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1. Access to State Secrets shall be limited to individuals who have undergone thorough vetting by The Trust and have been granted the necessary clearances.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2. All individuals with access to State Secrets shall undergo a mandatory review every three years to renew their clearance.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400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*Article 6: Periodic Review*</a:t>
            </a:r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1. The list of State Secrets and their classification shall undergo a periodic review every five years, overseen by a committee comprising members of The Trust, representatives of the Triumvirate, and select members of the Library of 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Korranberg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.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400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*Article 7: Enactment and Amendments*</a:t>
            </a:r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1. The ZSSA comes into force immediately upon receiving the assent of the Triumvirate.</a:t>
            </a: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2. Amendments to this act can only be proposed by members of the Triumvirate and require a thorough review by The Trust.</a:t>
            </a:r>
          </a:p>
          <a:p>
            <a:b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By the power vested in the Triumvirate, with the guidance and expertise of The Trust, the 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State Secrets Act (ZSSA) is hereby decreed to protect the legacy, interests, and future of 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and its citizens.</a:t>
            </a: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endParaRPr lang="en-US" sz="1100" dirty="0">
              <a:effectLst/>
              <a:latin typeface="Apple Chancery" panose="03020702040506060504" pitchFamily="66" charset="-79"/>
              <a:cs typeface="Apple Chancery" panose="03020702040506060504" pitchFamily="66" charset="-79"/>
            </a:endParaRPr>
          </a:p>
          <a:p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**</a:t>
            </a:r>
            <a:r>
              <a:rPr lang="en-US" sz="1100" dirty="0" err="1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Zilargo</a:t>
            </a:r>
            <a:r>
              <a:rPr lang="en-US" sz="1100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 State Secrets Act (ZSSA) of 998 YK – v4.6**</a:t>
            </a:r>
          </a:p>
        </p:txBody>
      </p:sp>
      <p:pic>
        <p:nvPicPr>
          <p:cNvPr id="9" name="Picture 8" descr="A gold and blue circular object with a bird in the middle&#10;&#10;Description automatically generated">
            <a:extLst>
              <a:ext uri="{FF2B5EF4-FFF2-40B4-BE49-F238E27FC236}">
                <a16:creationId xmlns:a16="http://schemas.microsoft.com/office/drawing/2014/main" id="{C4E11CE4-6993-0FD8-02D1-4C7B36D496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8067" y="7950200"/>
            <a:ext cx="1058333" cy="105833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32BC315-D56F-EE9A-CD59-ECC8804149A7}"/>
              </a:ext>
            </a:extLst>
          </p:cNvPr>
          <p:cNvSpPr/>
          <p:nvPr/>
        </p:nvSpPr>
        <p:spPr>
          <a:xfrm>
            <a:off x="248356" y="5136444"/>
            <a:ext cx="6366933" cy="2517423"/>
          </a:xfrm>
          <a:prstGeom prst="rect">
            <a:avLst/>
          </a:prstGeom>
          <a:noFill/>
          <a:ln w="38100"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6366933"/>
                      <a:gd name="connsiteY0" fmla="*/ 0 h 2517423"/>
                      <a:gd name="connsiteX1" fmla="*/ 573024 w 6366933"/>
                      <a:gd name="connsiteY1" fmla="*/ 0 h 2517423"/>
                      <a:gd name="connsiteX2" fmla="*/ 1018709 w 6366933"/>
                      <a:gd name="connsiteY2" fmla="*/ 0 h 2517423"/>
                      <a:gd name="connsiteX3" fmla="*/ 1782741 w 6366933"/>
                      <a:gd name="connsiteY3" fmla="*/ 0 h 2517423"/>
                      <a:gd name="connsiteX4" fmla="*/ 2355765 w 6366933"/>
                      <a:gd name="connsiteY4" fmla="*/ 0 h 2517423"/>
                      <a:gd name="connsiteX5" fmla="*/ 2928789 w 6366933"/>
                      <a:gd name="connsiteY5" fmla="*/ 0 h 2517423"/>
                      <a:gd name="connsiteX6" fmla="*/ 3692821 w 6366933"/>
                      <a:gd name="connsiteY6" fmla="*/ 0 h 2517423"/>
                      <a:gd name="connsiteX7" fmla="*/ 4202176 w 6366933"/>
                      <a:gd name="connsiteY7" fmla="*/ 0 h 2517423"/>
                      <a:gd name="connsiteX8" fmla="*/ 4966208 w 6366933"/>
                      <a:gd name="connsiteY8" fmla="*/ 0 h 2517423"/>
                      <a:gd name="connsiteX9" fmla="*/ 5730240 w 6366933"/>
                      <a:gd name="connsiteY9" fmla="*/ 0 h 2517423"/>
                      <a:gd name="connsiteX10" fmla="*/ 6366933 w 6366933"/>
                      <a:gd name="connsiteY10" fmla="*/ 0 h 2517423"/>
                      <a:gd name="connsiteX11" fmla="*/ 6366933 w 6366933"/>
                      <a:gd name="connsiteY11" fmla="*/ 679704 h 2517423"/>
                      <a:gd name="connsiteX12" fmla="*/ 6366933 w 6366933"/>
                      <a:gd name="connsiteY12" fmla="*/ 1334234 h 2517423"/>
                      <a:gd name="connsiteX13" fmla="*/ 6366933 w 6366933"/>
                      <a:gd name="connsiteY13" fmla="*/ 1888067 h 2517423"/>
                      <a:gd name="connsiteX14" fmla="*/ 6366933 w 6366933"/>
                      <a:gd name="connsiteY14" fmla="*/ 2517423 h 2517423"/>
                      <a:gd name="connsiteX15" fmla="*/ 5730240 w 6366933"/>
                      <a:gd name="connsiteY15" fmla="*/ 2517423 h 2517423"/>
                      <a:gd name="connsiteX16" fmla="*/ 5093546 w 6366933"/>
                      <a:gd name="connsiteY16" fmla="*/ 2517423 h 2517423"/>
                      <a:gd name="connsiteX17" fmla="*/ 4329514 w 6366933"/>
                      <a:gd name="connsiteY17" fmla="*/ 2517423 h 2517423"/>
                      <a:gd name="connsiteX18" fmla="*/ 3692821 w 6366933"/>
                      <a:gd name="connsiteY18" fmla="*/ 2517423 h 2517423"/>
                      <a:gd name="connsiteX19" fmla="*/ 3247136 w 6366933"/>
                      <a:gd name="connsiteY19" fmla="*/ 2517423 h 2517423"/>
                      <a:gd name="connsiteX20" fmla="*/ 2737781 w 6366933"/>
                      <a:gd name="connsiteY20" fmla="*/ 2517423 h 2517423"/>
                      <a:gd name="connsiteX21" fmla="*/ 1973749 w 6366933"/>
                      <a:gd name="connsiteY21" fmla="*/ 2517423 h 2517423"/>
                      <a:gd name="connsiteX22" fmla="*/ 1337056 w 6366933"/>
                      <a:gd name="connsiteY22" fmla="*/ 2517423 h 2517423"/>
                      <a:gd name="connsiteX23" fmla="*/ 827701 w 6366933"/>
                      <a:gd name="connsiteY23" fmla="*/ 2517423 h 2517423"/>
                      <a:gd name="connsiteX24" fmla="*/ 0 w 6366933"/>
                      <a:gd name="connsiteY24" fmla="*/ 2517423 h 2517423"/>
                      <a:gd name="connsiteX25" fmla="*/ 0 w 6366933"/>
                      <a:gd name="connsiteY25" fmla="*/ 1963590 h 2517423"/>
                      <a:gd name="connsiteX26" fmla="*/ 0 w 6366933"/>
                      <a:gd name="connsiteY26" fmla="*/ 1409757 h 2517423"/>
                      <a:gd name="connsiteX27" fmla="*/ 0 w 6366933"/>
                      <a:gd name="connsiteY27" fmla="*/ 755227 h 2517423"/>
                      <a:gd name="connsiteX28" fmla="*/ 0 w 6366933"/>
                      <a:gd name="connsiteY28" fmla="*/ 0 h 251742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6366933" h="2517423" extrusionOk="0">
                        <a:moveTo>
                          <a:pt x="0" y="0"/>
                        </a:moveTo>
                        <a:cubicBezTo>
                          <a:pt x="153534" y="-19803"/>
                          <a:pt x="288729" y="-8840"/>
                          <a:pt x="573024" y="0"/>
                        </a:cubicBezTo>
                        <a:cubicBezTo>
                          <a:pt x="857319" y="8840"/>
                          <a:pt x="859506" y="-1709"/>
                          <a:pt x="1018709" y="0"/>
                        </a:cubicBezTo>
                        <a:cubicBezTo>
                          <a:pt x="1177912" y="1709"/>
                          <a:pt x="1447738" y="22431"/>
                          <a:pt x="1782741" y="0"/>
                        </a:cubicBezTo>
                        <a:cubicBezTo>
                          <a:pt x="2117744" y="-22431"/>
                          <a:pt x="2146876" y="2915"/>
                          <a:pt x="2355765" y="0"/>
                        </a:cubicBezTo>
                        <a:cubicBezTo>
                          <a:pt x="2564654" y="-2915"/>
                          <a:pt x="2713181" y="9644"/>
                          <a:pt x="2928789" y="0"/>
                        </a:cubicBezTo>
                        <a:cubicBezTo>
                          <a:pt x="3144397" y="-9644"/>
                          <a:pt x="3432987" y="-24425"/>
                          <a:pt x="3692821" y="0"/>
                        </a:cubicBezTo>
                        <a:cubicBezTo>
                          <a:pt x="3952655" y="24425"/>
                          <a:pt x="3991860" y="628"/>
                          <a:pt x="4202176" y="0"/>
                        </a:cubicBezTo>
                        <a:cubicBezTo>
                          <a:pt x="4412493" y="-628"/>
                          <a:pt x="4770692" y="31671"/>
                          <a:pt x="4966208" y="0"/>
                        </a:cubicBezTo>
                        <a:cubicBezTo>
                          <a:pt x="5161724" y="-31671"/>
                          <a:pt x="5454136" y="35531"/>
                          <a:pt x="5730240" y="0"/>
                        </a:cubicBezTo>
                        <a:cubicBezTo>
                          <a:pt x="6006344" y="-35531"/>
                          <a:pt x="6107092" y="-20609"/>
                          <a:pt x="6366933" y="0"/>
                        </a:cubicBezTo>
                        <a:cubicBezTo>
                          <a:pt x="6346900" y="229585"/>
                          <a:pt x="6382577" y="487756"/>
                          <a:pt x="6366933" y="679704"/>
                        </a:cubicBezTo>
                        <a:cubicBezTo>
                          <a:pt x="6351289" y="871652"/>
                          <a:pt x="6353822" y="1089283"/>
                          <a:pt x="6366933" y="1334234"/>
                        </a:cubicBezTo>
                        <a:cubicBezTo>
                          <a:pt x="6380045" y="1579185"/>
                          <a:pt x="6374038" y="1639296"/>
                          <a:pt x="6366933" y="1888067"/>
                        </a:cubicBezTo>
                        <a:cubicBezTo>
                          <a:pt x="6359828" y="2136838"/>
                          <a:pt x="6358575" y="2273776"/>
                          <a:pt x="6366933" y="2517423"/>
                        </a:cubicBezTo>
                        <a:cubicBezTo>
                          <a:pt x="6167485" y="2524247"/>
                          <a:pt x="6014853" y="2505221"/>
                          <a:pt x="5730240" y="2517423"/>
                        </a:cubicBezTo>
                        <a:cubicBezTo>
                          <a:pt x="5445627" y="2529625"/>
                          <a:pt x="5226176" y="2533669"/>
                          <a:pt x="5093546" y="2517423"/>
                        </a:cubicBezTo>
                        <a:cubicBezTo>
                          <a:pt x="4960916" y="2501177"/>
                          <a:pt x="4628613" y="2541228"/>
                          <a:pt x="4329514" y="2517423"/>
                        </a:cubicBezTo>
                        <a:cubicBezTo>
                          <a:pt x="4030415" y="2493618"/>
                          <a:pt x="3917595" y="2507505"/>
                          <a:pt x="3692821" y="2517423"/>
                        </a:cubicBezTo>
                        <a:cubicBezTo>
                          <a:pt x="3468047" y="2527341"/>
                          <a:pt x="3418485" y="2531856"/>
                          <a:pt x="3247136" y="2517423"/>
                        </a:cubicBezTo>
                        <a:cubicBezTo>
                          <a:pt x="3075788" y="2502990"/>
                          <a:pt x="2956427" y="2537001"/>
                          <a:pt x="2737781" y="2517423"/>
                        </a:cubicBezTo>
                        <a:cubicBezTo>
                          <a:pt x="2519135" y="2497845"/>
                          <a:pt x="2343419" y="2523929"/>
                          <a:pt x="1973749" y="2517423"/>
                        </a:cubicBezTo>
                        <a:cubicBezTo>
                          <a:pt x="1604079" y="2510917"/>
                          <a:pt x="1590504" y="2521803"/>
                          <a:pt x="1337056" y="2517423"/>
                        </a:cubicBezTo>
                        <a:cubicBezTo>
                          <a:pt x="1083608" y="2513043"/>
                          <a:pt x="951085" y="2506276"/>
                          <a:pt x="827701" y="2517423"/>
                        </a:cubicBezTo>
                        <a:cubicBezTo>
                          <a:pt x="704318" y="2528570"/>
                          <a:pt x="299561" y="2478182"/>
                          <a:pt x="0" y="2517423"/>
                        </a:cubicBezTo>
                        <a:cubicBezTo>
                          <a:pt x="24003" y="2291929"/>
                          <a:pt x="22447" y="2084602"/>
                          <a:pt x="0" y="1963590"/>
                        </a:cubicBezTo>
                        <a:cubicBezTo>
                          <a:pt x="-22447" y="1842578"/>
                          <a:pt x="-19907" y="1666402"/>
                          <a:pt x="0" y="1409757"/>
                        </a:cubicBezTo>
                        <a:cubicBezTo>
                          <a:pt x="19907" y="1153112"/>
                          <a:pt x="9883" y="948875"/>
                          <a:pt x="0" y="755227"/>
                        </a:cubicBezTo>
                        <a:cubicBezTo>
                          <a:pt x="-9883" y="561579"/>
                          <a:pt x="-8281" y="199416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41B29A1-3A67-2966-5554-198E9D71E93C}"/>
              </a:ext>
            </a:extLst>
          </p:cNvPr>
          <p:cNvCxnSpPr>
            <a:stCxn id="10" idx="1"/>
          </p:cNvCxnSpPr>
          <p:nvPr/>
        </p:nvCxnSpPr>
        <p:spPr>
          <a:xfrm>
            <a:off x="248356" y="6395156"/>
            <a:ext cx="4594577" cy="28222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234F488-DEE0-B34F-1470-F5853A89AFA9}"/>
              </a:ext>
            </a:extLst>
          </p:cNvPr>
          <p:cNvCxnSpPr>
            <a:cxnSpLocks/>
          </p:cNvCxnSpPr>
          <p:nvPr/>
        </p:nvCxnSpPr>
        <p:spPr>
          <a:xfrm>
            <a:off x="4842933" y="5136444"/>
            <a:ext cx="0" cy="251742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96AE364-346B-0F80-5F0B-209EBEC60F3B}"/>
              </a:ext>
            </a:extLst>
          </p:cNvPr>
          <p:cNvSpPr txBox="1"/>
          <p:nvPr/>
        </p:nvSpPr>
        <p:spPr>
          <a:xfrm>
            <a:off x="293513" y="5160308"/>
            <a:ext cx="3443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Name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3607333-43EE-1DF3-F55A-FE167104BEAF}"/>
              </a:ext>
            </a:extLst>
          </p:cNvPr>
          <p:cNvSpPr txBox="1"/>
          <p:nvPr/>
        </p:nvSpPr>
        <p:spPr>
          <a:xfrm>
            <a:off x="242711" y="6419020"/>
            <a:ext cx="3443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Signature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48AA3C-D824-37D0-71B2-4A84691FEA22}"/>
              </a:ext>
            </a:extLst>
          </p:cNvPr>
          <p:cNvSpPr txBox="1"/>
          <p:nvPr/>
        </p:nvSpPr>
        <p:spPr>
          <a:xfrm>
            <a:off x="4842933" y="5136666"/>
            <a:ext cx="17667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effectLst/>
                <a:latin typeface="APPLE CHANCERY" panose="03020702040506060504" pitchFamily="66" charset="-79"/>
                <a:cs typeface="APPLE CHANCERY" panose="03020702040506060504" pitchFamily="66" charset="-79"/>
              </a:rPr>
              <a:t>T&amp;B Print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52642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1048</TotalTime>
  <Words>593</Words>
  <Application>Microsoft Macintosh PowerPoint</Application>
  <PresentationFormat>Letter Paper (8.5x11 in)</PresentationFormat>
  <Paragraphs>74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APPLE CHANCERY</vt:lpstr>
      <vt:lpstr>APPLE CHANCERY</vt:lpstr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Erik Freeland</dc:creator>
  <cp:lastModifiedBy>Erik Freeland</cp:lastModifiedBy>
  <cp:revision>3</cp:revision>
  <dcterms:created xsi:type="dcterms:W3CDTF">2023-08-13T03:41:27Z</dcterms:created>
  <dcterms:modified xsi:type="dcterms:W3CDTF">2023-08-13T21:09:34Z</dcterms:modified>
</cp:coreProperties>
</file>