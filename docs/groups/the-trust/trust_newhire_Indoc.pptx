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3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August 30,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91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August 30,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73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42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5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Wednesday, August 30, 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8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59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4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8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9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7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Wednesday, August 30,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76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Wednesday, August 30,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1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78" r:id="rId2"/>
    <p:sldLayoutId id="2147483677" r:id="rId3"/>
    <p:sldLayoutId id="2147483676" r:id="rId4"/>
    <p:sldLayoutId id="2147483675" r:id="rId5"/>
    <p:sldLayoutId id="2147483672" r:id="rId6"/>
    <p:sldLayoutId id="2147483674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448D53-ACA1-4CA4-B08A-09FB0780C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1ECA0-8424-E001-572B-43EEE5DF9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5412" y="448056"/>
            <a:ext cx="7355484" cy="3401568"/>
          </a:xfrm>
        </p:spPr>
        <p:txBody>
          <a:bodyPr>
            <a:normAutofit/>
          </a:bodyPr>
          <a:lstStyle/>
          <a:p>
            <a:r>
              <a:rPr lang="en-US" dirty="0"/>
              <a:t>New Hire </a:t>
            </a:r>
            <a:r>
              <a:rPr lang="en-US" dirty="0" err="1"/>
              <a:t>Indoc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12C79-CD55-887B-5288-E84DA17C5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5412" y="4471416"/>
            <a:ext cx="7355484" cy="148132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Operative  </a:t>
            </a:r>
            <a:r>
              <a:rPr lang="en-US" dirty="0" err="1"/>
              <a:t>Smallberries</a:t>
            </a:r>
            <a:endParaRPr lang="en-US" dirty="0"/>
          </a:p>
          <a:p>
            <a:r>
              <a:rPr lang="en-US" dirty="0"/>
              <a:t>Training Development Lead</a:t>
            </a:r>
          </a:p>
          <a:p>
            <a:r>
              <a:rPr lang="en-US" dirty="0"/>
              <a:t>Logistics Division</a:t>
            </a:r>
          </a:p>
        </p:txBody>
      </p:sp>
      <p:pic>
        <p:nvPicPr>
          <p:cNvPr id="5" name="Picture 4" descr="A logo with a hooded figure&#10;&#10;Description automatically generated">
            <a:extLst>
              <a:ext uri="{FF2B5EF4-FFF2-40B4-BE49-F238E27FC236}">
                <a16:creationId xmlns:a16="http://schemas.microsoft.com/office/drawing/2014/main" id="{D3035A51-5226-EE7F-9317-8D241914E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4" y="1505932"/>
            <a:ext cx="3449384" cy="343213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5719CE-F76F-4313-9A48-ADF79E67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5412" y="4122000"/>
            <a:ext cx="738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4DAF71-5AB7-64D7-5C44-588D9B6600FA}"/>
              </a:ext>
            </a:extLst>
          </p:cNvPr>
          <p:cNvSpPr txBox="1"/>
          <p:nvPr/>
        </p:nvSpPr>
        <p:spPr>
          <a:xfrm>
            <a:off x="1298466" y="4938068"/>
            <a:ext cx="17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0605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6CC717-08C5-4F3E-B8AA-BA93C8755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C448D53-ACA1-4CA4-B08A-09FB0780C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A02D7E-DE23-5827-3EDD-D25B25CC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412" y="448056"/>
            <a:ext cx="7355484" cy="3401568"/>
          </a:xfrm>
        </p:spPr>
        <p:txBody>
          <a:bodyPr vert="horz" lIns="0" tIns="0" rIns="0" bIns="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400" dirty="0"/>
              <a:t>Don’t Be A Nosy Gnome &amp; Keep Your Desk Clean</a:t>
            </a:r>
          </a:p>
        </p:txBody>
      </p:sp>
      <p:pic>
        <p:nvPicPr>
          <p:cNvPr id="5" name="Content Placeholder 4" descr="A poster of a person holding an object&#10;&#10;Description automatically generated">
            <a:extLst>
              <a:ext uri="{FF2B5EF4-FFF2-40B4-BE49-F238E27FC236}">
                <a16:creationId xmlns:a16="http://schemas.microsoft.com/office/drawing/2014/main" id="{2A06F532-224B-7068-8B1F-0000F0AC9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10" r="3855"/>
          <a:stretch/>
        </p:blipFill>
        <p:spPr>
          <a:xfrm>
            <a:off x="451104" y="450000"/>
            <a:ext cx="3449384" cy="55440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5719CE-F76F-4313-9A48-ADF79E67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5412" y="4122000"/>
            <a:ext cx="738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hooded figure&#10;&#10;Description automatically generated">
            <a:extLst>
              <a:ext uri="{FF2B5EF4-FFF2-40B4-BE49-F238E27FC236}">
                <a16:creationId xmlns:a16="http://schemas.microsoft.com/office/drawing/2014/main" id="{319C7A7B-54BF-4351-249A-1695BEBEC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0179" y="4780303"/>
            <a:ext cx="1262726" cy="1256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8A4FED-8961-98B8-9A37-475FB0E5FAC8}"/>
              </a:ext>
            </a:extLst>
          </p:cNvPr>
          <p:cNvSpPr txBox="1"/>
          <p:nvPr/>
        </p:nvSpPr>
        <p:spPr>
          <a:xfrm>
            <a:off x="10095471" y="5938877"/>
            <a:ext cx="17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1965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8A26-95DE-31C7-EB85-BAD04A3F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Organizational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81C1A-D9D7-4EDF-2BA7-3A1DDB1D8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4844504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Nils - Informants - general populace who report to the Trust</a:t>
            </a:r>
          </a:p>
          <a:p>
            <a:r>
              <a:rPr lang="en-US" dirty="0" err="1">
                <a:effectLst/>
                <a:latin typeface="Helvetica Neue" panose="02000503000000020004" pitchFamily="2" charset="0"/>
              </a:rPr>
              <a:t>Halfs</a:t>
            </a:r>
            <a:r>
              <a:rPr lang="en-US" dirty="0">
                <a:effectLst/>
                <a:latin typeface="Helvetica Neue" panose="02000503000000020004" pitchFamily="2" charset="0"/>
              </a:rPr>
              <a:t> - Those looking to apply to either 1s or 2s. 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1 - Trust Handler - well know around any neighborhood. Located in close proximity to any House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Sivis</a:t>
            </a:r>
            <a:r>
              <a:rPr lang="en-US" dirty="0">
                <a:effectLst/>
                <a:latin typeface="Helvetica Neue" panose="02000503000000020004" pitchFamily="2" charset="0"/>
              </a:rPr>
              <a:t> guilds and police stations in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Zilargo</a:t>
            </a:r>
            <a:r>
              <a:rPr lang="en-US" dirty="0">
                <a:effectLst/>
                <a:latin typeface="Helvetica Neue" panose="02000503000000020004" pitchFamily="2" charset="0"/>
              </a:rPr>
              <a:t>. 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2 - Trust Spy - Standard Foot Soldier. 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3 - Trust Operative - More senior agents. 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4 - Trust Director - Leaders inside a division.</a:t>
            </a:r>
          </a:p>
          <a:p>
            <a:r>
              <a:rPr lang="en-US" dirty="0">
                <a:effectLst/>
                <a:latin typeface="Helvetica Neue" panose="02000503000000020004" pitchFamily="2" charset="0"/>
              </a:rPr>
              <a:t>5 - Trusted - Head of a division</a:t>
            </a:r>
          </a:p>
          <a:p>
            <a:r>
              <a:rPr lang="en-US" dirty="0">
                <a:latin typeface="Helvetica Neue" panose="02000503000000020004" pitchFamily="2" charset="0"/>
              </a:rPr>
              <a:t>6 –</a:t>
            </a:r>
            <a:r>
              <a:rPr lang="en-US" dirty="0">
                <a:effectLst/>
                <a:latin typeface="Helvetica Neue" panose="02000503000000020004" pitchFamily="2" charset="0"/>
              </a:rPr>
              <a:t> The Protector</a:t>
            </a:r>
          </a:p>
          <a:p>
            <a:endParaRPr lang="en-US" dirty="0"/>
          </a:p>
        </p:txBody>
      </p:sp>
      <p:pic>
        <p:nvPicPr>
          <p:cNvPr id="4" name="Picture 3" descr="A logo with a hooded figure&#10;&#10;Description automatically generated">
            <a:extLst>
              <a:ext uri="{FF2B5EF4-FFF2-40B4-BE49-F238E27FC236}">
                <a16:creationId xmlns:a16="http://schemas.microsoft.com/office/drawing/2014/main" id="{CE1B365E-6782-A428-1969-502AEEEC5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179" y="4780303"/>
            <a:ext cx="1262726" cy="1256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8A346A-A4DC-E302-BDB4-1B86A125580B}"/>
              </a:ext>
            </a:extLst>
          </p:cNvPr>
          <p:cNvSpPr txBox="1"/>
          <p:nvPr/>
        </p:nvSpPr>
        <p:spPr>
          <a:xfrm>
            <a:off x="10095471" y="5938877"/>
            <a:ext cx="17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46013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F3D9-C227-0E5D-26CE-4A5E2062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Five “I”s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C79A2-3F59-05D1-AD0C-C66F107F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/>
                <a:latin typeface="Helvetica Neue" panose="02000503000000020004" pitchFamily="2" charset="0"/>
              </a:rPr>
              <a:t>Counter-Intelligence (CI) – Identify &amp; Neutralize opposing spies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External Intelligence (XI) - Focus on foreign political &amp; economic information. 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Internal Intelligence (I Squared) - Internal to </a:t>
            </a:r>
            <a:r>
              <a:rPr lang="en-US" sz="2400" dirty="0" err="1">
                <a:effectLst/>
                <a:latin typeface="Helvetica Neue" panose="02000503000000020004" pitchFamily="2" charset="0"/>
              </a:rPr>
              <a:t>Zilargo</a:t>
            </a:r>
            <a:r>
              <a:rPr lang="en-US" sz="2400" dirty="0">
                <a:effectLst/>
                <a:latin typeface="Helvetica Neue" panose="02000503000000020004" pitchFamily="2" charset="0"/>
              </a:rPr>
              <a:t>. Keep the peace,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Military Intelligence (MI) - Capabilities of other nations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Corporate Intelligence (Corp) - Capabilities of other Noble Houses</a:t>
            </a:r>
          </a:p>
          <a:p>
            <a:endParaRPr lang="en-US" sz="2400" dirty="0"/>
          </a:p>
        </p:txBody>
      </p:sp>
      <p:pic>
        <p:nvPicPr>
          <p:cNvPr id="4" name="Picture 3" descr="A logo with a hooded figure&#10;&#10;Description automatically generated">
            <a:extLst>
              <a:ext uri="{FF2B5EF4-FFF2-40B4-BE49-F238E27FC236}">
                <a16:creationId xmlns:a16="http://schemas.microsoft.com/office/drawing/2014/main" id="{D25BE9DC-E6CD-90B1-78FE-EC11F907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179" y="4780303"/>
            <a:ext cx="1262726" cy="1256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96E82-B9D1-5A64-A82C-E0758D51A542}"/>
              </a:ext>
            </a:extLst>
          </p:cNvPr>
          <p:cNvSpPr txBox="1"/>
          <p:nvPr/>
        </p:nvSpPr>
        <p:spPr>
          <a:xfrm>
            <a:off x="10095471" y="5938877"/>
            <a:ext cx="17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1290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E00B-EA1A-FCD2-2DF5-D22EB6C3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Five “D”s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0768-C841-E607-0D94-C8CF9FF3D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4993591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  <a:latin typeface="Helvetica Neue" panose="02000503000000020004" pitchFamily="2" charset="0"/>
              </a:rPr>
              <a:t>Surveillance Division (Ears) - Passive &amp; Active data collection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Analysis Division (Guts) - Make sense of it all.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Logistics Division (Heart) - Support activities for other divisions. 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Technical Division (Brains) - Researches new advances in </a:t>
            </a:r>
            <a:r>
              <a:rPr lang="en-US" sz="2400" dirty="0" err="1">
                <a:effectLst/>
                <a:latin typeface="Helvetica Neue" panose="02000503000000020004" pitchFamily="2" charset="0"/>
              </a:rPr>
              <a:t>spycraft</a:t>
            </a:r>
            <a:r>
              <a:rPr lang="en-US" sz="2400" dirty="0">
                <a:effectLst/>
                <a:latin typeface="Helvetica Neue" panose="02000503000000020004" pitchFamily="2" charset="0"/>
              </a:rPr>
              <a:t> &amp; communications. </a:t>
            </a:r>
          </a:p>
          <a:p>
            <a:r>
              <a:rPr lang="en-US" sz="2400" dirty="0">
                <a:effectLst/>
                <a:latin typeface="Helvetica Neue" panose="02000503000000020004" pitchFamily="2" charset="0"/>
              </a:rPr>
              <a:t>Operations Division (Ass) - We take the shit out. </a:t>
            </a:r>
          </a:p>
        </p:txBody>
      </p:sp>
      <p:pic>
        <p:nvPicPr>
          <p:cNvPr id="4" name="Picture 3" descr="A logo with a hooded figure&#10;&#10;Description automatically generated">
            <a:extLst>
              <a:ext uri="{FF2B5EF4-FFF2-40B4-BE49-F238E27FC236}">
                <a16:creationId xmlns:a16="http://schemas.microsoft.com/office/drawing/2014/main" id="{BC38270C-67EE-D99F-4AF4-5AE58493F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0179" y="4780303"/>
            <a:ext cx="1262726" cy="1256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5ED814-4D7F-22D3-B374-82BD7F8DE3EB}"/>
              </a:ext>
            </a:extLst>
          </p:cNvPr>
          <p:cNvSpPr txBox="1"/>
          <p:nvPr/>
        </p:nvSpPr>
        <p:spPr>
          <a:xfrm>
            <a:off x="10095471" y="5938877"/>
            <a:ext cx="1754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40418168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207</TotalTime>
  <Words>250</Words>
  <Application>Microsoft Macintosh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 Light</vt:lpstr>
      <vt:lpstr>Helvetica Neue</vt:lpstr>
      <vt:lpstr>Source Sans Pro</vt:lpstr>
      <vt:lpstr>Source Sans Pro Light</vt:lpstr>
      <vt:lpstr>ThinLineVTI</vt:lpstr>
      <vt:lpstr>New Hire Indoc</vt:lpstr>
      <vt:lpstr>Don’t Be A Nosy Gnome &amp; Keep Your Desk Clean</vt:lpstr>
      <vt:lpstr>Trust Organizational Hierarchy</vt:lpstr>
      <vt:lpstr>The Five “I”s</vt:lpstr>
      <vt:lpstr>The Five “D”s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Hire Indoc</dc:title>
  <dc:creator>Erik Freeland</dc:creator>
  <cp:lastModifiedBy>Erik Freeland</cp:lastModifiedBy>
  <cp:revision>4</cp:revision>
  <dcterms:created xsi:type="dcterms:W3CDTF">2023-08-12T21:00:23Z</dcterms:created>
  <dcterms:modified xsi:type="dcterms:W3CDTF">2023-08-31T01:33:47Z</dcterms:modified>
</cp:coreProperties>
</file>